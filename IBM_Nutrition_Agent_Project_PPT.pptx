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0" r:id="rId8"/>
    <p:sldId id="263" r:id="rId9"/>
    <p:sldId id="264" r:id="rId10"/>
    <p:sldId id="271" r:id="rId11"/>
    <p:sldId id="275" r:id="rId12"/>
    <p:sldId id="274" r:id="rId13"/>
    <p:sldId id="276" r:id="rId14"/>
    <p:sldId id="277" r:id="rId15"/>
    <p:sldId id="273" r:id="rId16"/>
    <p:sldId id="278" r:id="rId17"/>
    <p:sldId id="279" r:id="rId18"/>
    <p:sldId id="280" r:id="rId19"/>
    <p:sldId id="281" r:id="rId20"/>
    <p:sldId id="282"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5C76-4BA5-0EFF-0C94-5BC900CEF79D}"/>
              </a:ext>
            </a:extLst>
          </p:cNvPr>
          <p:cNvSpPr>
            <a:spLocks noGrp="1"/>
          </p:cNvSpPr>
          <p:nvPr>
            <p:ph type="ctrTitle"/>
          </p:nvPr>
        </p:nvSpPr>
        <p:spPr>
          <a:xfrm>
            <a:off x="1381125" y="676276"/>
            <a:ext cx="10429875" cy="2996205"/>
          </a:xfrm>
        </p:spPr>
        <p:txBody>
          <a:bodyPr/>
          <a:lstStyle/>
          <a:p>
            <a:r>
              <a:rPr lang="en-IN" sz="3400" b="1" dirty="0"/>
              <a:t>AI-Powered Personalized Nutrition Agent      using IBM </a:t>
            </a:r>
            <a:r>
              <a:rPr lang="en-IN" sz="3400" b="1" dirty="0" err="1"/>
              <a:t>watsonx</a:t>
            </a:r>
            <a:r>
              <a:rPr lang="en-IN" sz="3400" b="1" dirty="0"/>
              <a:t> Orchestrate</a:t>
            </a:r>
            <a:br>
              <a:rPr lang="en-IN" sz="3400" b="1" dirty="0"/>
            </a:br>
            <a:br>
              <a:rPr lang="en-IN" sz="3400" b="1" dirty="0"/>
            </a:br>
            <a:r>
              <a:rPr lang="en-IN" sz="2800" b="1" dirty="0"/>
              <a:t>IBM </a:t>
            </a:r>
            <a:r>
              <a:rPr lang="en-IN" sz="2800" b="1" dirty="0" err="1"/>
              <a:t>SkillsBuild</a:t>
            </a:r>
            <a:r>
              <a:rPr lang="en-IN" sz="2800" b="1" dirty="0"/>
              <a:t> – University Engagement Program</a:t>
            </a:r>
            <a:br>
              <a:rPr lang="en-IN" dirty="0"/>
            </a:br>
            <a:endParaRPr lang="en-IN" dirty="0"/>
          </a:p>
        </p:txBody>
      </p:sp>
      <p:sp>
        <p:nvSpPr>
          <p:cNvPr id="3" name="Subtitle 2">
            <a:extLst>
              <a:ext uri="{FF2B5EF4-FFF2-40B4-BE49-F238E27FC236}">
                <a16:creationId xmlns:a16="http://schemas.microsoft.com/office/drawing/2014/main" id="{24B70F4D-86B0-5821-62A1-A2AAEFDE18A4}"/>
              </a:ext>
            </a:extLst>
          </p:cNvPr>
          <p:cNvSpPr>
            <a:spLocks noGrp="1"/>
          </p:cNvSpPr>
          <p:nvPr>
            <p:ph type="subTitle" idx="1"/>
          </p:nvPr>
        </p:nvSpPr>
        <p:spPr>
          <a:xfrm>
            <a:off x="1381125" y="3596279"/>
            <a:ext cx="9151938" cy="2585445"/>
          </a:xfrm>
        </p:spPr>
        <p:txBody>
          <a:bodyPr>
            <a:normAutofit fontScale="25000" lnSpcReduction="20000"/>
          </a:bodyPr>
          <a:lstStyle/>
          <a:p>
            <a:r>
              <a:rPr lang="en-IN" sz="11200" b="1" dirty="0"/>
              <a:t>Domain:</a:t>
            </a:r>
            <a:r>
              <a:rPr lang="en-IN" sz="11200" dirty="0"/>
              <a:t> Healthcare</a:t>
            </a:r>
          </a:p>
          <a:p>
            <a:r>
              <a:rPr lang="en-IN" sz="8000" b="1" dirty="0"/>
              <a:t>Submitted By:</a:t>
            </a:r>
            <a:endParaRPr lang="en-IN" sz="8000" dirty="0"/>
          </a:p>
          <a:p>
            <a:r>
              <a:rPr lang="en-IN" sz="8000" dirty="0"/>
              <a:t>Name: N. Hemasri</a:t>
            </a:r>
          </a:p>
          <a:p>
            <a:r>
              <a:rPr lang="en-IN" sz="8000" dirty="0"/>
              <a:t>Roll Number: CB.SC.U4AIE24335</a:t>
            </a:r>
          </a:p>
          <a:p>
            <a:r>
              <a:rPr lang="en-IN" sz="8000" dirty="0"/>
              <a:t>College: Amrita VISHWA VIDHYAPEETHAM</a:t>
            </a:r>
          </a:p>
          <a:p>
            <a:r>
              <a:rPr lang="en-IN" sz="8000" dirty="0"/>
              <a:t>Department: AIML</a:t>
            </a:r>
          </a:p>
          <a:p>
            <a:endParaRPr lang="en-IN" sz="8000" dirty="0"/>
          </a:p>
          <a:p>
            <a:endParaRPr lang="en-IN" dirty="0"/>
          </a:p>
        </p:txBody>
      </p:sp>
    </p:spTree>
    <p:extLst>
      <p:ext uri="{BB962C8B-B14F-4D97-AF65-F5344CB8AC3E}">
        <p14:creationId xmlns:p14="http://schemas.microsoft.com/office/powerpoint/2010/main" val="166572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A3C6-D517-D3D6-F11A-CFF240C4089F}"/>
              </a:ext>
            </a:extLst>
          </p:cNvPr>
          <p:cNvSpPr>
            <a:spLocks noGrp="1"/>
          </p:cNvSpPr>
          <p:nvPr>
            <p:ph type="title"/>
          </p:nvPr>
        </p:nvSpPr>
        <p:spPr>
          <a:xfrm>
            <a:off x="4298205" y="954618"/>
            <a:ext cx="3093196" cy="706964"/>
          </a:xfrm>
        </p:spPr>
        <p:txBody>
          <a:bodyPr/>
          <a:lstStyle/>
          <a:p>
            <a:r>
              <a:rPr lang="en-IN" dirty="0"/>
              <a:t>Introduction</a:t>
            </a:r>
          </a:p>
        </p:txBody>
      </p:sp>
      <p:sp>
        <p:nvSpPr>
          <p:cNvPr id="3" name="Content Placeholder 2">
            <a:extLst>
              <a:ext uri="{FF2B5EF4-FFF2-40B4-BE49-F238E27FC236}">
                <a16:creationId xmlns:a16="http://schemas.microsoft.com/office/drawing/2014/main" id="{DF4A506D-DFC6-0C02-53B8-F1191956DE74}"/>
              </a:ext>
            </a:extLst>
          </p:cNvPr>
          <p:cNvSpPr>
            <a:spLocks noGrp="1"/>
          </p:cNvSpPr>
          <p:nvPr>
            <p:ph idx="1"/>
          </p:nvPr>
        </p:nvSpPr>
        <p:spPr>
          <a:xfrm>
            <a:off x="2077664" y="2828924"/>
            <a:ext cx="8036671" cy="3228975"/>
          </a:xfrm>
        </p:spPr>
        <p:txBody>
          <a:bodyPr/>
          <a:lstStyle/>
          <a:p>
            <a:r>
              <a:rPr lang="en-IN" dirty="0"/>
              <a:t>Nutrition plays a vital role in maintaining a healthy lifestyle. However, many individuals find it difficult to select a balanced diet based on their health condition, body weight, lifestyle, and food preferences.</a:t>
            </a:r>
          </a:p>
          <a:p>
            <a:r>
              <a:rPr lang="en-IN" dirty="0"/>
              <a:t>To solve this problem, we developed an </a:t>
            </a:r>
            <a:r>
              <a:rPr lang="en-IN" b="1" dirty="0"/>
              <a:t>AI-powered Personalized Nutrition Agent</a:t>
            </a:r>
            <a:r>
              <a:rPr lang="en-IN" dirty="0"/>
              <a:t> using </a:t>
            </a:r>
            <a:r>
              <a:rPr lang="en-IN" b="1" dirty="0"/>
              <a:t>IBM </a:t>
            </a:r>
            <a:r>
              <a:rPr lang="en-IN" b="1" dirty="0" err="1"/>
              <a:t>watsonx</a:t>
            </a:r>
            <a:r>
              <a:rPr lang="en-IN" b="1" dirty="0"/>
              <a:t> Orchestrate</a:t>
            </a:r>
            <a:r>
              <a:rPr lang="en-IN" dirty="0"/>
              <a:t>. The agent interacts with users, understands their health-related information, and provides personalized nutrition guidance using an AI model and a knowledge base.</a:t>
            </a:r>
          </a:p>
        </p:txBody>
      </p:sp>
    </p:spTree>
    <p:extLst>
      <p:ext uri="{BB962C8B-B14F-4D97-AF65-F5344CB8AC3E}">
        <p14:creationId xmlns:p14="http://schemas.microsoft.com/office/powerpoint/2010/main" val="976166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E1EE-AED0-3DF1-2AD9-A27FAA3825BA}"/>
              </a:ext>
            </a:extLst>
          </p:cNvPr>
          <p:cNvSpPr>
            <a:spLocks noGrp="1"/>
          </p:cNvSpPr>
          <p:nvPr>
            <p:ph type="title"/>
          </p:nvPr>
        </p:nvSpPr>
        <p:spPr>
          <a:xfrm>
            <a:off x="3536205" y="838200"/>
            <a:ext cx="4712446" cy="706964"/>
          </a:xfrm>
        </p:spPr>
        <p:txBody>
          <a:bodyPr/>
          <a:lstStyle/>
          <a:p>
            <a:r>
              <a:rPr lang="en-IN" dirty="0"/>
              <a:t>Problem Statement</a:t>
            </a:r>
          </a:p>
        </p:txBody>
      </p:sp>
      <p:sp>
        <p:nvSpPr>
          <p:cNvPr id="3" name="Content Placeholder 2">
            <a:extLst>
              <a:ext uri="{FF2B5EF4-FFF2-40B4-BE49-F238E27FC236}">
                <a16:creationId xmlns:a16="http://schemas.microsoft.com/office/drawing/2014/main" id="{E0DB3B39-CED9-DA1A-B3F9-1CA5DD757B1E}"/>
              </a:ext>
            </a:extLst>
          </p:cNvPr>
          <p:cNvSpPr>
            <a:spLocks noGrp="1"/>
          </p:cNvSpPr>
          <p:nvPr>
            <p:ph idx="1"/>
          </p:nvPr>
        </p:nvSpPr>
        <p:spPr>
          <a:xfrm>
            <a:off x="2002679" y="3194050"/>
            <a:ext cx="8825659" cy="3416300"/>
          </a:xfrm>
        </p:spPr>
        <p:txBody>
          <a:bodyPr/>
          <a:lstStyle/>
          <a:p>
            <a:r>
              <a:rPr lang="en-IN" dirty="0"/>
              <a:t>People often rely on generic diet plans that do not consider their personal health conditions, dietary preferences, allergies, or activity levels. This may result in poor nutrition and unhealthy eating habits.</a:t>
            </a:r>
          </a:p>
          <a:p>
            <a:r>
              <a:rPr lang="en-IN" dirty="0"/>
              <a:t>There is a need for an intelligent AI assistant capable of providing personalized nutrition recommendations based on individual user information.</a:t>
            </a:r>
          </a:p>
          <a:p>
            <a:pPr marL="0" indent="0">
              <a:buNone/>
            </a:pPr>
            <a:endParaRPr lang="en-IN" dirty="0"/>
          </a:p>
        </p:txBody>
      </p:sp>
    </p:spTree>
    <p:extLst>
      <p:ext uri="{BB962C8B-B14F-4D97-AF65-F5344CB8AC3E}">
        <p14:creationId xmlns:p14="http://schemas.microsoft.com/office/powerpoint/2010/main" val="1925536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A33B-4648-1E40-1031-B3C9F98CFD23}"/>
              </a:ext>
            </a:extLst>
          </p:cNvPr>
          <p:cNvSpPr>
            <a:spLocks noGrp="1"/>
          </p:cNvSpPr>
          <p:nvPr>
            <p:ph type="title"/>
          </p:nvPr>
        </p:nvSpPr>
        <p:spPr>
          <a:xfrm>
            <a:off x="4069604" y="906993"/>
            <a:ext cx="2721721" cy="706964"/>
          </a:xfrm>
        </p:spPr>
        <p:txBody>
          <a:bodyPr/>
          <a:lstStyle/>
          <a:p>
            <a:r>
              <a:rPr lang="en-IN" dirty="0"/>
              <a:t>Objectives</a:t>
            </a:r>
          </a:p>
        </p:txBody>
      </p:sp>
      <p:sp>
        <p:nvSpPr>
          <p:cNvPr id="3" name="Content Placeholder 2">
            <a:extLst>
              <a:ext uri="{FF2B5EF4-FFF2-40B4-BE49-F238E27FC236}">
                <a16:creationId xmlns:a16="http://schemas.microsoft.com/office/drawing/2014/main" id="{AE838E94-3F90-09D2-57AF-FC15C5A1B257}"/>
              </a:ext>
            </a:extLst>
          </p:cNvPr>
          <p:cNvSpPr>
            <a:spLocks noGrp="1"/>
          </p:cNvSpPr>
          <p:nvPr>
            <p:ph idx="1"/>
          </p:nvPr>
        </p:nvSpPr>
        <p:spPr>
          <a:xfrm>
            <a:off x="1297829" y="2641600"/>
            <a:ext cx="8825659" cy="3416300"/>
          </a:xfrm>
        </p:spPr>
        <p:txBody>
          <a:bodyPr/>
          <a:lstStyle/>
          <a:p>
            <a:r>
              <a:rPr lang="en-IN" dirty="0"/>
              <a:t>Build an AI-powered Nutrition Agent. </a:t>
            </a:r>
          </a:p>
          <a:p>
            <a:r>
              <a:rPr lang="en-IN" dirty="0"/>
              <a:t>Collect user information through natural language conversation. </a:t>
            </a:r>
          </a:p>
          <a:p>
            <a:r>
              <a:rPr lang="en-IN" dirty="0"/>
              <a:t>Generate personalized diet recommendations. </a:t>
            </a:r>
          </a:p>
          <a:p>
            <a:r>
              <a:rPr lang="en-IN" dirty="0"/>
              <a:t>Suggest healthy meal plans. </a:t>
            </a:r>
          </a:p>
          <a:p>
            <a:r>
              <a:rPr lang="en-IN" dirty="0"/>
              <a:t>Promote healthy lifestyle habits. </a:t>
            </a:r>
          </a:p>
          <a:p>
            <a:r>
              <a:rPr lang="en-IN" dirty="0"/>
              <a:t>Provide reliable nutrition information using a knowledge base. </a:t>
            </a:r>
          </a:p>
          <a:p>
            <a:r>
              <a:rPr lang="en-IN" dirty="0"/>
              <a:t>Improve user awareness regarding healthy eating. </a:t>
            </a:r>
          </a:p>
          <a:p>
            <a:pPr marL="0" indent="0">
              <a:buNone/>
            </a:pPr>
            <a:endParaRPr lang="en-IN" dirty="0"/>
          </a:p>
        </p:txBody>
      </p:sp>
    </p:spTree>
    <p:extLst>
      <p:ext uri="{BB962C8B-B14F-4D97-AF65-F5344CB8AC3E}">
        <p14:creationId xmlns:p14="http://schemas.microsoft.com/office/powerpoint/2010/main" val="1733737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F566-1174-7FAA-A32F-D9186F10A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CD906-F07B-72DC-F946-A660495E1974}"/>
              </a:ext>
            </a:extLst>
          </p:cNvPr>
          <p:cNvSpPr>
            <a:spLocks noGrp="1"/>
          </p:cNvSpPr>
          <p:nvPr>
            <p:ph type="title"/>
          </p:nvPr>
        </p:nvSpPr>
        <p:spPr>
          <a:xfrm>
            <a:off x="3421110" y="964143"/>
            <a:ext cx="4293346" cy="706964"/>
          </a:xfrm>
        </p:spPr>
        <p:txBody>
          <a:bodyPr/>
          <a:lstStyle/>
          <a:p>
            <a:r>
              <a:rPr lang="en-IN" dirty="0"/>
              <a:t>Proposed Solution</a:t>
            </a:r>
          </a:p>
        </p:txBody>
      </p:sp>
      <p:sp>
        <p:nvSpPr>
          <p:cNvPr id="3" name="Content Placeholder 2">
            <a:extLst>
              <a:ext uri="{FF2B5EF4-FFF2-40B4-BE49-F238E27FC236}">
                <a16:creationId xmlns:a16="http://schemas.microsoft.com/office/drawing/2014/main" id="{F7CF7432-02F2-B75E-520A-829FB9DF3C1E}"/>
              </a:ext>
            </a:extLst>
          </p:cNvPr>
          <p:cNvSpPr>
            <a:spLocks noGrp="1"/>
          </p:cNvSpPr>
          <p:nvPr>
            <p:ph idx="1"/>
          </p:nvPr>
        </p:nvSpPr>
        <p:spPr>
          <a:xfrm>
            <a:off x="1564529" y="2603500"/>
            <a:ext cx="8825659" cy="3416300"/>
          </a:xfrm>
        </p:spPr>
        <p:txBody>
          <a:bodyPr/>
          <a:lstStyle/>
          <a:p>
            <a:r>
              <a:rPr lang="en-IN" dirty="0"/>
              <a:t>The proposed system is an AI-powered Nutrition Agent developed using </a:t>
            </a:r>
            <a:r>
              <a:rPr lang="en-IN" b="1" dirty="0"/>
              <a:t>IBM </a:t>
            </a:r>
            <a:r>
              <a:rPr lang="en-IN" b="1" dirty="0" err="1"/>
              <a:t>watsonx</a:t>
            </a:r>
            <a:r>
              <a:rPr lang="en-IN" b="1" dirty="0"/>
              <a:t> Orchestrate</a:t>
            </a:r>
            <a:r>
              <a:rPr lang="en-IN" dirty="0"/>
              <a:t>.</a:t>
            </a:r>
          </a:p>
          <a:p>
            <a:r>
              <a:rPr lang="en-IN" dirty="0"/>
              <a:t>The agent:</a:t>
            </a:r>
          </a:p>
          <a:p>
            <a:r>
              <a:rPr lang="en-IN" dirty="0"/>
              <a:t>Interacts with users conversationally. </a:t>
            </a:r>
          </a:p>
          <a:p>
            <a:r>
              <a:rPr lang="en-IN" dirty="0"/>
              <a:t>Collects age, weight, activity level, dietary preference, and medical conditions. </a:t>
            </a:r>
          </a:p>
          <a:p>
            <a:r>
              <a:rPr lang="en-IN" dirty="0"/>
              <a:t>Uses uploaded nutrition documents as a knowledge base. </a:t>
            </a:r>
          </a:p>
          <a:p>
            <a:r>
              <a:rPr lang="en-IN" dirty="0"/>
              <a:t>Generates personalized diet plans. </a:t>
            </a:r>
          </a:p>
          <a:p>
            <a:r>
              <a:rPr lang="en-IN" dirty="0"/>
              <a:t>Provides healthy lifestyle recommendations.</a:t>
            </a:r>
          </a:p>
          <a:p>
            <a:endParaRPr lang="en-IN" dirty="0"/>
          </a:p>
        </p:txBody>
      </p:sp>
    </p:spTree>
    <p:extLst>
      <p:ext uri="{BB962C8B-B14F-4D97-AF65-F5344CB8AC3E}">
        <p14:creationId xmlns:p14="http://schemas.microsoft.com/office/powerpoint/2010/main" val="137612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EEBC-88DE-C01B-1706-E71E77053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7B8E5-9438-EBF8-2FCF-7C5E88C54A89}"/>
              </a:ext>
            </a:extLst>
          </p:cNvPr>
          <p:cNvSpPr>
            <a:spLocks noGrp="1"/>
          </p:cNvSpPr>
          <p:nvPr>
            <p:ph type="title"/>
          </p:nvPr>
        </p:nvSpPr>
        <p:spPr>
          <a:xfrm>
            <a:off x="3402855" y="838200"/>
            <a:ext cx="4540996" cy="706964"/>
          </a:xfrm>
        </p:spPr>
        <p:txBody>
          <a:bodyPr/>
          <a:lstStyle/>
          <a:p>
            <a:r>
              <a:rPr lang="en-IN" dirty="0"/>
              <a:t>Technologies Used</a:t>
            </a:r>
          </a:p>
        </p:txBody>
      </p:sp>
      <p:graphicFrame>
        <p:nvGraphicFramePr>
          <p:cNvPr id="4" name="Content Placeholder 3">
            <a:extLst>
              <a:ext uri="{FF2B5EF4-FFF2-40B4-BE49-F238E27FC236}">
                <a16:creationId xmlns:a16="http://schemas.microsoft.com/office/drawing/2014/main" id="{2ECBA2BE-2FA2-2D49-65F4-75830392BBEC}"/>
              </a:ext>
            </a:extLst>
          </p:cNvPr>
          <p:cNvGraphicFramePr>
            <a:graphicFrameLocks noGrp="1"/>
          </p:cNvGraphicFramePr>
          <p:nvPr>
            <p:ph idx="1"/>
            <p:extLst>
              <p:ext uri="{D42A27DB-BD31-4B8C-83A1-F6EECF244321}">
                <p14:modId xmlns:p14="http://schemas.microsoft.com/office/powerpoint/2010/main" val="185012166"/>
              </p:ext>
            </p:extLst>
          </p:nvPr>
        </p:nvGraphicFramePr>
        <p:xfrm>
          <a:off x="1825624" y="2964815"/>
          <a:ext cx="8761414" cy="2651760"/>
        </p:xfrm>
        <a:graphic>
          <a:graphicData uri="http://schemas.openxmlformats.org/drawingml/2006/table">
            <a:tbl>
              <a:tblPr>
                <a:tableStyleId>{08FB837D-C827-4EFA-A057-4D05807E0F7C}</a:tableStyleId>
              </a:tblPr>
              <a:tblGrid>
                <a:gridCol w="4380707">
                  <a:extLst>
                    <a:ext uri="{9D8B030D-6E8A-4147-A177-3AD203B41FA5}">
                      <a16:colId xmlns:a16="http://schemas.microsoft.com/office/drawing/2014/main" val="2050884873"/>
                    </a:ext>
                  </a:extLst>
                </a:gridCol>
                <a:gridCol w="4380707">
                  <a:extLst>
                    <a:ext uri="{9D8B030D-6E8A-4147-A177-3AD203B41FA5}">
                      <a16:colId xmlns:a16="http://schemas.microsoft.com/office/drawing/2014/main" val="2060301153"/>
                    </a:ext>
                  </a:extLst>
                </a:gridCol>
              </a:tblGrid>
              <a:tr h="0">
                <a:tc>
                  <a:txBody>
                    <a:bodyPr/>
                    <a:lstStyle/>
                    <a:p>
                      <a:pPr>
                        <a:buNone/>
                      </a:pPr>
                      <a:r>
                        <a:rPr lang="en-IN" sz="2400" b="1" i="0"/>
                        <a:t>Technology</a:t>
                      </a:r>
                    </a:p>
                  </a:txBody>
                  <a:tcPr anchor="ctr"/>
                </a:tc>
                <a:tc>
                  <a:txBody>
                    <a:bodyPr/>
                    <a:lstStyle/>
                    <a:p>
                      <a:pPr>
                        <a:buNone/>
                      </a:pPr>
                      <a:r>
                        <a:rPr lang="en-IN" sz="2400" b="1" i="0" dirty="0"/>
                        <a:t>Purpose</a:t>
                      </a:r>
                    </a:p>
                  </a:txBody>
                  <a:tcPr anchor="ctr"/>
                </a:tc>
                <a:extLst>
                  <a:ext uri="{0D108BD9-81ED-4DB2-BD59-A6C34878D82A}">
                    <a16:rowId xmlns:a16="http://schemas.microsoft.com/office/drawing/2014/main" val="2774979662"/>
                  </a:ext>
                </a:extLst>
              </a:tr>
              <a:tr h="0">
                <a:tc>
                  <a:txBody>
                    <a:bodyPr/>
                    <a:lstStyle/>
                    <a:p>
                      <a:pPr>
                        <a:buNone/>
                      </a:pPr>
                      <a:r>
                        <a:rPr lang="en-IN"/>
                        <a:t>IBM Cloud</a:t>
                      </a:r>
                    </a:p>
                  </a:txBody>
                  <a:tcPr anchor="ctr"/>
                </a:tc>
                <a:tc>
                  <a:txBody>
                    <a:bodyPr/>
                    <a:lstStyle/>
                    <a:p>
                      <a:pPr>
                        <a:buNone/>
                      </a:pPr>
                      <a:r>
                        <a:rPr lang="en-IN"/>
                        <a:t>Cloud Platform</a:t>
                      </a:r>
                    </a:p>
                  </a:txBody>
                  <a:tcPr anchor="ctr"/>
                </a:tc>
                <a:extLst>
                  <a:ext uri="{0D108BD9-81ED-4DB2-BD59-A6C34878D82A}">
                    <a16:rowId xmlns:a16="http://schemas.microsoft.com/office/drawing/2014/main" val="1500997999"/>
                  </a:ext>
                </a:extLst>
              </a:tr>
              <a:tr h="0">
                <a:tc>
                  <a:txBody>
                    <a:bodyPr/>
                    <a:lstStyle/>
                    <a:p>
                      <a:pPr>
                        <a:buNone/>
                      </a:pPr>
                      <a:r>
                        <a:rPr lang="en-IN"/>
                        <a:t>IBM watsonx Orchestrate</a:t>
                      </a:r>
                    </a:p>
                  </a:txBody>
                  <a:tcPr anchor="ctr"/>
                </a:tc>
                <a:tc>
                  <a:txBody>
                    <a:bodyPr/>
                    <a:lstStyle/>
                    <a:p>
                      <a:pPr>
                        <a:buNone/>
                      </a:pPr>
                      <a:r>
                        <a:rPr lang="en-IN" dirty="0"/>
                        <a:t>AI Agent Development</a:t>
                      </a:r>
                    </a:p>
                  </a:txBody>
                  <a:tcPr anchor="ctr"/>
                </a:tc>
                <a:extLst>
                  <a:ext uri="{0D108BD9-81ED-4DB2-BD59-A6C34878D82A}">
                    <a16:rowId xmlns:a16="http://schemas.microsoft.com/office/drawing/2014/main" val="3519068325"/>
                  </a:ext>
                </a:extLst>
              </a:tr>
              <a:tr h="0">
                <a:tc>
                  <a:txBody>
                    <a:bodyPr/>
                    <a:lstStyle/>
                    <a:p>
                      <a:pPr>
                        <a:buNone/>
                      </a:pPr>
                      <a:r>
                        <a:rPr lang="en-IN"/>
                        <a:t>GPT Foundation Model</a:t>
                      </a:r>
                    </a:p>
                  </a:txBody>
                  <a:tcPr anchor="ctr"/>
                </a:tc>
                <a:tc>
                  <a:txBody>
                    <a:bodyPr/>
                    <a:lstStyle/>
                    <a:p>
                      <a:pPr>
                        <a:buNone/>
                      </a:pPr>
                      <a:r>
                        <a:rPr lang="en-IN"/>
                        <a:t>Natural Language Processing</a:t>
                      </a:r>
                    </a:p>
                  </a:txBody>
                  <a:tcPr anchor="ctr"/>
                </a:tc>
                <a:extLst>
                  <a:ext uri="{0D108BD9-81ED-4DB2-BD59-A6C34878D82A}">
                    <a16:rowId xmlns:a16="http://schemas.microsoft.com/office/drawing/2014/main" val="3951507749"/>
                  </a:ext>
                </a:extLst>
              </a:tr>
              <a:tr h="0">
                <a:tc>
                  <a:txBody>
                    <a:bodyPr/>
                    <a:lstStyle/>
                    <a:p>
                      <a:pPr>
                        <a:buNone/>
                      </a:pPr>
                      <a:r>
                        <a:rPr lang="en-IN"/>
                        <a:t>Knowledge Base</a:t>
                      </a:r>
                    </a:p>
                  </a:txBody>
                  <a:tcPr anchor="ctr"/>
                </a:tc>
                <a:tc>
                  <a:txBody>
                    <a:bodyPr/>
                    <a:lstStyle/>
                    <a:p>
                      <a:pPr>
                        <a:buNone/>
                      </a:pPr>
                      <a:r>
                        <a:rPr lang="en-IN"/>
                        <a:t>Nutrition Information</a:t>
                      </a:r>
                    </a:p>
                  </a:txBody>
                  <a:tcPr anchor="ctr"/>
                </a:tc>
                <a:extLst>
                  <a:ext uri="{0D108BD9-81ED-4DB2-BD59-A6C34878D82A}">
                    <a16:rowId xmlns:a16="http://schemas.microsoft.com/office/drawing/2014/main" val="2822599059"/>
                  </a:ext>
                </a:extLst>
              </a:tr>
              <a:tr h="0">
                <a:tc>
                  <a:txBody>
                    <a:bodyPr/>
                    <a:lstStyle/>
                    <a:p>
                      <a:pPr>
                        <a:buNone/>
                      </a:pPr>
                      <a:r>
                        <a:rPr lang="en-IN"/>
                        <a:t>PDF Documents</a:t>
                      </a:r>
                    </a:p>
                  </a:txBody>
                  <a:tcPr anchor="ctr"/>
                </a:tc>
                <a:tc>
                  <a:txBody>
                    <a:bodyPr/>
                    <a:lstStyle/>
                    <a:p>
                      <a:pPr>
                        <a:buNone/>
                      </a:pPr>
                      <a:r>
                        <a:rPr lang="en-IN"/>
                        <a:t>Trusted Nutrition Data</a:t>
                      </a:r>
                    </a:p>
                  </a:txBody>
                  <a:tcPr anchor="ctr"/>
                </a:tc>
                <a:extLst>
                  <a:ext uri="{0D108BD9-81ED-4DB2-BD59-A6C34878D82A}">
                    <a16:rowId xmlns:a16="http://schemas.microsoft.com/office/drawing/2014/main" val="3075456483"/>
                  </a:ext>
                </a:extLst>
              </a:tr>
              <a:tr h="0">
                <a:tc>
                  <a:txBody>
                    <a:bodyPr/>
                    <a:lstStyle/>
                    <a:p>
                      <a:pPr>
                        <a:buNone/>
                      </a:pPr>
                      <a:r>
                        <a:rPr lang="en-IN"/>
                        <a:t>AI Agent Builder</a:t>
                      </a:r>
                    </a:p>
                  </a:txBody>
                  <a:tcPr anchor="ctr"/>
                </a:tc>
                <a:tc>
                  <a:txBody>
                    <a:bodyPr/>
                    <a:lstStyle/>
                    <a:p>
                      <a:pPr>
                        <a:buNone/>
                      </a:pPr>
                      <a:r>
                        <a:rPr lang="en-IN" dirty="0"/>
                        <a:t>Agent Configuration</a:t>
                      </a:r>
                    </a:p>
                  </a:txBody>
                  <a:tcPr anchor="ctr"/>
                </a:tc>
                <a:extLst>
                  <a:ext uri="{0D108BD9-81ED-4DB2-BD59-A6C34878D82A}">
                    <a16:rowId xmlns:a16="http://schemas.microsoft.com/office/drawing/2014/main" val="403094758"/>
                  </a:ext>
                </a:extLst>
              </a:tr>
            </a:tbl>
          </a:graphicData>
        </a:graphic>
      </p:graphicFrame>
    </p:spTree>
    <p:extLst>
      <p:ext uri="{BB962C8B-B14F-4D97-AF65-F5344CB8AC3E}">
        <p14:creationId xmlns:p14="http://schemas.microsoft.com/office/powerpoint/2010/main" val="158171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45BF-A405-8036-8A1E-F2A5C45BDE9D}"/>
              </a:ext>
            </a:extLst>
          </p:cNvPr>
          <p:cNvSpPr>
            <a:spLocks noGrp="1"/>
          </p:cNvSpPr>
          <p:nvPr>
            <p:ph type="title"/>
          </p:nvPr>
        </p:nvSpPr>
        <p:spPr>
          <a:xfrm>
            <a:off x="3412379" y="916518"/>
            <a:ext cx="4645771" cy="706964"/>
          </a:xfrm>
        </p:spPr>
        <p:txBody>
          <a:bodyPr/>
          <a:lstStyle/>
          <a:p>
            <a:r>
              <a:rPr lang="en-IN" dirty="0"/>
              <a:t>System Architecture</a:t>
            </a:r>
          </a:p>
        </p:txBody>
      </p:sp>
      <p:pic>
        <p:nvPicPr>
          <p:cNvPr id="4" name="Picture 3">
            <a:extLst>
              <a:ext uri="{FF2B5EF4-FFF2-40B4-BE49-F238E27FC236}">
                <a16:creationId xmlns:a16="http://schemas.microsoft.com/office/drawing/2014/main" id="{02BEB75A-8B80-B82A-124C-5A65F3C119B4}"/>
              </a:ext>
            </a:extLst>
          </p:cNvPr>
          <p:cNvPicPr>
            <a:picLocks noChangeAspect="1"/>
          </p:cNvPicPr>
          <p:nvPr/>
        </p:nvPicPr>
        <p:blipFill>
          <a:blip r:embed="rId2"/>
          <a:stretch>
            <a:fillRect/>
          </a:stretch>
        </p:blipFill>
        <p:spPr>
          <a:xfrm>
            <a:off x="3738689" y="2409824"/>
            <a:ext cx="4714622" cy="4295775"/>
          </a:xfrm>
          <a:prstGeom prst="rect">
            <a:avLst/>
          </a:prstGeom>
        </p:spPr>
      </p:pic>
    </p:spTree>
    <p:extLst>
      <p:ext uri="{BB962C8B-B14F-4D97-AF65-F5344CB8AC3E}">
        <p14:creationId xmlns:p14="http://schemas.microsoft.com/office/powerpoint/2010/main" val="3303704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68DF-1FC1-E915-ED2E-15CCEA1F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9FC83-488E-4882-1911-3C52F4D75D19}"/>
              </a:ext>
            </a:extLst>
          </p:cNvPr>
          <p:cNvSpPr>
            <a:spLocks noGrp="1"/>
          </p:cNvSpPr>
          <p:nvPr>
            <p:ph type="title"/>
          </p:nvPr>
        </p:nvSpPr>
        <p:spPr>
          <a:xfrm>
            <a:off x="4717304" y="838200"/>
            <a:ext cx="2455021" cy="706964"/>
          </a:xfrm>
        </p:spPr>
        <p:txBody>
          <a:bodyPr/>
          <a:lstStyle/>
          <a:p>
            <a:r>
              <a:rPr lang="en-IN" dirty="0"/>
              <a:t>Workflow</a:t>
            </a:r>
          </a:p>
        </p:txBody>
      </p:sp>
      <p:sp>
        <p:nvSpPr>
          <p:cNvPr id="3" name="Content Placeholder 2">
            <a:extLst>
              <a:ext uri="{FF2B5EF4-FFF2-40B4-BE49-F238E27FC236}">
                <a16:creationId xmlns:a16="http://schemas.microsoft.com/office/drawing/2014/main" id="{74E7EDB2-3616-8D16-8FAD-CA8EBFF31C4A}"/>
              </a:ext>
            </a:extLst>
          </p:cNvPr>
          <p:cNvSpPr>
            <a:spLocks noGrp="1"/>
          </p:cNvSpPr>
          <p:nvPr>
            <p:ph idx="1"/>
          </p:nvPr>
        </p:nvSpPr>
        <p:spPr>
          <a:xfrm>
            <a:off x="1945529" y="2603500"/>
            <a:ext cx="8825659" cy="3416300"/>
          </a:xfrm>
        </p:spPr>
        <p:txBody>
          <a:bodyPr/>
          <a:lstStyle/>
          <a:p>
            <a:r>
              <a:rPr lang="en-IN" dirty="0"/>
              <a:t>User opens Nutrition Agent. </a:t>
            </a:r>
          </a:p>
          <a:p>
            <a:r>
              <a:rPr lang="en-IN" dirty="0"/>
              <a:t>Agent asks for health details.</a:t>
            </a:r>
          </a:p>
          <a:p>
            <a:r>
              <a:rPr lang="en-IN" dirty="0"/>
              <a:t> User enters age, weight, activity level, etc. </a:t>
            </a:r>
          </a:p>
          <a:p>
            <a:r>
              <a:rPr lang="en-IN" dirty="0"/>
              <a:t>Agent retrieves nutrition knowledge.</a:t>
            </a:r>
          </a:p>
          <a:p>
            <a:r>
              <a:rPr lang="en-IN" dirty="0"/>
              <a:t> AI </a:t>
            </a:r>
            <a:r>
              <a:rPr lang="en-IN" dirty="0" err="1"/>
              <a:t>analyzes</a:t>
            </a:r>
            <a:r>
              <a:rPr lang="en-IN" dirty="0"/>
              <a:t> user information. </a:t>
            </a:r>
          </a:p>
          <a:p>
            <a:r>
              <a:rPr lang="en-IN" dirty="0"/>
              <a:t>Personalized nutrition plan is generated. </a:t>
            </a:r>
          </a:p>
          <a:p>
            <a:r>
              <a:rPr lang="en-IN" dirty="0"/>
              <a:t>User receives healthy diet recommendations.</a:t>
            </a:r>
          </a:p>
        </p:txBody>
      </p:sp>
    </p:spTree>
    <p:extLst>
      <p:ext uri="{BB962C8B-B14F-4D97-AF65-F5344CB8AC3E}">
        <p14:creationId xmlns:p14="http://schemas.microsoft.com/office/powerpoint/2010/main" val="38736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5B09-34F3-0892-42EE-EC4DA3CE6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55B05-F66B-E727-3BCB-74A641946210}"/>
              </a:ext>
            </a:extLst>
          </p:cNvPr>
          <p:cNvSpPr>
            <a:spLocks noGrp="1"/>
          </p:cNvSpPr>
          <p:nvPr>
            <p:ph type="title"/>
          </p:nvPr>
        </p:nvSpPr>
        <p:spPr>
          <a:xfrm>
            <a:off x="3483022" y="838200"/>
            <a:ext cx="4169521" cy="706964"/>
          </a:xfrm>
        </p:spPr>
        <p:txBody>
          <a:bodyPr/>
          <a:lstStyle/>
          <a:p>
            <a:r>
              <a:rPr lang="en-IN" dirty="0"/>
              <a:t>Knowledge Base</a:t>
            </a:r>
          </a:p>
        </p:txBody>
      </p:sp>
      <p:sp>
        <p:nvSpPr>
          <p:cNvPr id="3" name="Content Placeholder 2">
            <a:extLst>
              <a:ext uri="{FF2B5EF4-FFF2-40B4-BE49-F238E27FC236}">
                <a16:creationId xmlns:a16="http://schemas.microsoft.com/office/drawing/2014/main" id="{DB9AD97F-9B10-37BF-2DFB-BB1F4AFC393C}"/>
              </a:ext>
            </a:extLst>
          </p:cNvPr>
          <p:cNvSpPr>
            <a:spLocks noGrp="1"/>
          </p:cNvSpPr>
          <p:nvPr>
            <p:ph idx="1"/>
          </p:nvPr>
        </p:nvSpPr>
        <p:spPr>
          <a:xfrm>
            <a:off x="583454" y="3057524"/>
            <a:ext cx="6569821" cy="3286125"/>
          </a:xfrm>
        </p:spPr>
        <p:txBody>
          <a:bodyPr/>
          <a:lstStyle/>
          <a:p>
            <a:r>
              <a:rPr lang="en-IN" dirty="0"/>
              <a:t>The following nutrition documents were uploaded into the agent:</a:t>
            </a:r>
          </a:p>
          <a:p>
            <a:r>
              <a:rPr lang="en-IN" dirty="0"/>
              <a:t>Nutrition Guidelines </a:t>
            </a:r>
          </a:p>
          <a:p>
            <a:r>
              <a:rPr lang="en-IN" dirty="0"/>
              <a:t>BMI &amp; Calorie Guide </a:t>
            </a:r>
          </a:p>
          <a:p>
            <a:r>
              <a:rPr lang="en-IN" dirty="0"/>
              <a:t>Healthy Lifestyle Guide </a:t>
            </a:r>
          </a:p>
          <a:p>
            <a:r>
              <a:rPr lang="en-IN" dirty="0"/>
              <a:t>Indian Meal Planner </a:t>
            </a:r>
          </a:p>
          <a:p>
            <a:r>
              <a:rPr lang="en-IN" dirty="0"/>
              <a:t>The knowledge base helps the agent provide accurate and context-aware responses.</a:t>
            </a:r>
          </a:p>
          <a:p>
            <a:pPr marL="0" indent="0">
              <a:buNone/>
            </a:pPr>
            <a:endParaRPr lang="en-IN" dirty="0"/>
          </a:p>
        </p:txBody>
      </p:sp>
      <p:pic>
        <p:nvPicPr>
          <p:cNvPr id="5" name="Picture 4">
            <a:extLst>
              <a:ext uri="{FF2B5EF4-FFF2-40B4-BE49-F238E27FC236}">
                <a16:creationId xmlns:a16="http://schemas.microsoft.com/office/drawing/2014/main" id="{C7A2811F-7231-AE3A-BDD1-E7B22FDF621B}"/>
              </a:ext>
            </a:extLst>
          </p:cNvPr>
          <p:cNvPicPr>
            <a:picLocks noChangeAspect="1"/>
          </p:cNvPicPr>
          <p:nvPr/>
        </p:nvPicPr>
        <p:blipFill>
          <a:blip r:embed="rId2"/>
          <a:stretch>
            <a:fillRect/>
          </a:stretch>
        </p:blipFill>
        <p:spPr>
          <a:xfrm>
            <a:off x="7153275" y="3057524"/>
            <a:ext cx="4680404" cy="3286125"/>
          </a:xfrm>
          <a:prstGeom prst="rect">
            <a:avLst/>
          </a:prstGeom>
        </p:spPr>
      </p:pic>
    </p:spTree>
    <p:extLst>
      <p:ext uri="{BB962C8B-B14F-4D97-AF65-F5344CB8AC3E}">
        <p14:creationId xmlns:p14="http://schemas.microsoft.com/office/powerpoint/2010/main" val="25748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AF57-7410-B961-93DB-44E5D5167BF4}"/>
              </a:ext>
            </a:extLst>
          </p:cNvPr>
          <p:cNvSpPr>
            <a:spLocks noGrp="1"/>
          </p:cNvSpPr>
          <p:nvPr>
            <p:ph type="title"/>
          </p:nvPr>
        </p:nvSpPr>
        <p:spPr>
          <a:xfrm>
            <a:off x="3625477" y="868893"/>
            <a:ext cx="4941046" cy="706964"/>
          </a:xfrm>
        </p:spPr>
        <p:txBody>
          <a:bodyPr/>
          <a:lstStyle/>
          <a:p>
            <a:r>
              <a:rPr lang="en-IN" dirty="0"/>
              <a:t>Agent Configuration</a:t>
            </a:r>
          </a:p>
        </p:txBody>
      </p:sp>
      <p:pic>
        <p:nvPicPr>
          <p:cNvPr id="4" name="Picture 3">
            <a:extLst>
              <a:ext uri="{FF2B5EF4-FFF2-40B4-BE49-F238E27FC236}">
                <a16:creationId xmlns:a16="http://schemas.microsoft.com/office/drawing/2014/main" id="{FB8E2881-9388-ABB1-5CDD-AE47B3B543A0}"/>
              </a:ext>
            </a:extLst>
          </p:cNvPr>
          <p:cNvPicPr>
            <a:picLocks noChangeAspect="1"/>
          </p:cNvPicPr>
          <p:nvPr/>
        </p:nvPicPr>
        <p:blipFill>
          <a:blip r:embed="rId2"/>
          <a:stretch>
            <a:fillRect/>
          </a:stretch>
        </p:blipFill>
        <p:spPr>
          <a:xfrm>
            <a:off x="914272" y="2552699"/>
            <a:ext cx="4572186" cy="3879959"/>
          </a:xfrm>
          <a:prstGeom prst="rect">
            <a:avLst/>
          </a:prstGeom>
        </p:spPr>
      </p:pic>
      <p:pic>
        <p:nvPicPr>
          <p:cNvPr id="6" name="Picture 5">
            <a:extLst>
              <a:ext uri="{FF2B5EF4-FFF2-40B4-BE49-F238E27FC236}">
                <a16:creationId xmlns:a16="http://schemas.microsoft.com/office/drawing/2014/main" id="{191FDDAD-4796-0EEC-0B78-BCE11A9AE2BF}"/>
              </a:ext>
            </a:extLst>
          </p:cNvPr>
          <p:cNvPicPr>
            <a:picLocks noChangeAspect="1"/>
          </p:cNvPicPr>
          <p:nvPr/>
        </p:nvPicPr>
        <p:blipFill>
          <a:blip r:embed="rId3"/>
          <a:stretch>
            <a:fillRect/>
          </a:stretch>
        </p:blipFill>
        <p:spPr>
          <a:xfrm>
            <a:off x="5876795" y="2593930"/>
            <a:ext cx="5067560" cy="3797495"/>
          </a:xfrm>
          <a:prstGeom prst="rect">
            <a:avLst/>
          </a:prstGeom>
        </p:spPr>
      </p:pic>
    </p:spTree>
    <p:extLst>
      <p:ext uri="{BB962C8B-B14F-4D97-AF65-F5344CB8AC3E}">
        <p14:creationId xmlns:p14="http://schemas.microsoft.com/office/powerpoint/2010/main" val="3200835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EC56-1D10-4089-EAA6-FA0700230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04B0F-6C9D-79FC-A5A1-12027A7988AC}"/>
              </a:ext>
            </a:extLst>
          </p:cNvPr>
          <p:cNvSpPr>
            <a:spLocks noGrp="1"/>
          </p:cNvSpPr>
          <p:nvPr>
            <p:ph type="title"/>
          </p:nvPr>
        </p:nvSpPr>
        <p:spPr>
          <a:xfrm>
            <a:off x="4641104" y="1030818"/>
            <a:ext cx="1826371" cy="706964"/>
          </a:xfrm>
        </p:spPr>
        <p:txBody>
          <a:bodyPr/>
          <a:lstStyle/>
          <a:p>
            <a:r>
              <a:rPr lang="en-IN" dirty="0"/>
              <a:t>Testing</a:t>
            </a:r>
          </a:p>
        </p:txBody>
      </p:sp>
      <p:pic>
        <p:nvPicPr>
          <p:cNvPr id="7" name="Picture 6">
            <a:extLst>
              <a:ext uri="{FF2B5EF4-FFF2-40B4-BE49-F238E27FC236}">
                <a16:creationId xmlns:a16="http://schemas.microsoft.com/office/drawing/2014/main" id="{090B5065-8F35-8317-C5C9-903E473AE4CF}"/>
              </a:ext>
            </a:extLst>
          </p:cNvPr>
          <p:cNvPicPr>
            <a:picLocks noChangeAspect="1"/>
          </p:cNvPicPr>
          <p:nvPr/>
        </p:nvPicPr>
        <p:blipFill>
          <a:blip r:embed="rId2"/>
          <a:stretch>
            <a:fillRect/>
          </a:stretch>
        </p:blipFill>
        <p:spPr>
          <a:xfrm>
            <a:off x="1215908" y="2511334"/>
            <a:ext cx="4540483" cy="3549832"/>
          </a:xfrm>
          <a:prstGeom prst="rect">
            <a:avLst/>
          </a:prstGeom>
        </p:spPr>
      </p:pic>
      <p:pic>
        <p:nvPicPr>
          <p:cNvPr id="9" name="Picture 8">
            <a:extLst>
              <a:ext uri="{FF2B5EF4-FFF2-40B4-BE49-F238E27FC236}">
                <a16:creationId xmlns:a16="http://schemas.microsoft.com/office/drawing/2014/main" id="{5D639C45-1268-0B87-6EF4-5702998CEA53}"/>
              </a:ext>
            </a:extLst>
          </p:cNvPr>
          <p:cNvPicPr>
            <a:picLocks noChangeAspect="1"/>
          </p:cNvPicPr>
          <p:nvPr/>
        </p:nvPicPr>
        <p:blipFill>
          <a:blip r:embed="rId3"/>
          <a:stretch>
            <a:fillRect/>
          </a:stretch>
        </p:blipFill>
        <p:spPr>
          <a:xfrm>
            <a:off x="6226061" y="2501809"/>
            <a:ext cx="4426177" cy="3797495"/>
          </a:xfrm>
          <a:prstGeom prst="rect">
            <a:avLst/>
          </a:prstGeom>
        </p:spPr>
      </p:pic>
    </p:spTree>
    <p:extLst>
      <p:ext uri="{BB962C8B-B14F-4D97-AF65-F5344CB8AC3E}">
        <p14:creationId xmlns:p14="http://schemas.microsoft.com/office/powerpoint/2010/main" val="267355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E038-F57A-28C8-0A01-3F3354FA6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C39-90FB-021E-F823-FBB358324371}"/>
              </a:ext>
            </a:extLst>
          </p:cNvPr>
          <p:cNvSpPr>
            <a:spLocks noGrp="1"/>
          </p:cNvSpPr>
          <p:nvPr>
            <p:ph type="title"/>
          </p:nvPr>
        </p:nvSpPr>
        <p:spPr>
          <a:xfrm>
            <a:off x="4984005" y="916518"/>
            <a:ext cx="1740646" cy="706964"/>
          </a:xfrm>
        </p:spPr>
        <p:txBody>
          <a:bodyPr/>
          <a:lstStyle/>
          <a:p>
            <a:r>
              <a:rPr lang="en-IN" dirty="0"/>
              <a:t>Results</a:t>
            </a:r>
          </a:p>
        </p:txBody>
      </p:sp>
      <p:pic>
        <p:nvPicPr>
          <p:cNvPr id="4" name="Picture 3">
            <a:extLst>
              <a:ext uri="{FF2B5EF4-FFF2-40B4-BE49-F238E27FC236}">
                <a16:creationId xmlns:a16="http://schemas.microsoft.com/office/drawing/2014/main" id="{CE8E7881-7609-A718-49D6-7A54A958CC88}"/>
              </a:ext>
            </a:extLst>
          </p:cNvPr>
          <p:cNvPicPr>
            <a:picLocks noChangeAspect="1"/>
          </p:cNvPicPr>
          <p:nvPr/>
        </p:nvPicPr>
        <p:blipFill>
          <a:blip r:embed="rId2"/>
          <a:stretch>
            <a:fillRect/>
          </a:stretch>
        </p:blipFill>
        <p:spPr>
          <a:xfrm>
            <a:off x="952381" y="2320823"/>
            <a:ext cx="4610337" cy="3968954"/>
          </a:xfrm>
          <a:prstGeom prst="rect">
            <a:avLst/>
          </a:prstGeom>
        </p:spPr>
      </p:pic>
      <p:pic>
        <p:nvPicPr>
          <p:cNvPr id="6" name="Picture 5">
            <a:extLst>
              <a:ext uri="{FF2B5EF4-FFF2-40B4-BE49-F238E27FC236}">
                <a16:creationId xmlns:a16="http://schemas.microsoft.com/office/drawing/2014/main" id="{054FF789-CAFC-ECF0-3EAA-5FA1570C2297}"/>
              </a:ext>
            </a:extLst>
          </p:cNvPr>
          <p:cNvPicPr>
            <a:picLocks noChangeAspect="1"/>
          </p:cNvPicPr>
          <p:nvPr/>
        </p:nvPicPr>
        <p:blipFill>
          <a:blip r:embed="rId3"/>
          <a:stretch>
            <a:fillRect/>
          </a:stretch>
        </p:blipFill>
        <p:spPr>
          <a:xfrm>
            <a:off x="6038850" y="2320823"/>
            <a:ext cx="4629388" cy="4445228"/>
          </a:xfrm>
          <a:prstGeom prst="rect">
            <a:avLst/>
          </a:prstGeom>
        </p:spPr>
      </p:pic>
    </p:spTree>
    <p:extLst>
      <p:ext uri="{BB962C8B-B14F-4D97-AF65-F5344CB8AC3E}">
        <p14:creationId xmlns:p14="http://schemas.microsoft.com/office/powerpoint/2010/main" val="983995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1D7F-33BB-6D11-4CB7-56974AE29D5E}"/>
              </a:ext>
            </a:extLst>
          </p:cNvPr>
          <p:cNvSpPr>
            <a:spLocks noGrp="1"/>
          </p:cNvSpPr>
          <p:nvPr>
            <p:ph type="title"/>
          </p:nvPr>
        </p:nvSpPr>
        <p:spPr>
          <a:xfrm>
            <a:off x="4083097" y="923925"/>
            <a:ext cx="2969371" cy="706964"/>
          </a:xfrm>
        </p:spPr>
        <p:txBody>
          <a:bodyPr/>
          <a:lstStyle/>
          <a:p>
            <a:r>
              <a:rPr lang="en-IN" dirty="0"/>
              <a:t>Advantages</a:t>
            </a:r>
          </a:p>
        </p:txBody>
      </p:sp>
      <p:sp>
        <p:nvSpPr>
          <p:cNvPr id="3" name="Content Placeholder 2">
            <a:extLst>
              <a:ext uri="{FF2B5EF4-FFF2-40B4-BE49-F238E27FC236}">
                <a16:creationId xmlns:a16="http://schemas.microsoft.com/office/drawing/2014/main" id="{0D533C19-AF21-58E1-2B1D-D78151E27AD3}"/>
              </a:ext>
            </a:extLst>
          </p:cNvPr>
          <p:cNvSpPr>
            <a:spLocks noGrp="1"/>
          </p:cNvSpPr>
          <p:nvPr>
            <p:ph idx="1"/>
          </p:nvPr>
        </p:nvSpPr>
        <p:spPr>
          <a:xfrm>
            <a:off x="1683170" y="2660650"/>
            <a:ext cx="8825659" cy="3416300"/>
          </a:xfrm>
        </p:spPr>
        <p:txBody>
          <a:bodyPr/>
          <a:lstStyle/>
          <a:p>
            <a:r>
              <a:rPr lang="en-IN" dirty="0"/>
              <a:t>Personalized recommendations </a:t>
            </a:r>
          </a:p>
          <a:p>
            <a:r>
              <a:rPr lang="en-IN" dirty="0"/>
              <a:t>Easy to use </a:t>
            </a:r>
          </a:p>
          <a:p>
            <a:r>
              <a:rPr lang="en-IN" dirty="0"/>
              <a:t>Knowledge-driven responses </a:t>
            </a:r>
          </a:p>
          <a:p>
            <a:r>
              <a:rPr lang="en-IN" dirty="0"/>
              <a:t>Supports preventive healthcare </a:t>
            </a:r>
          </a:p>
          <a:p>
            <a:r>
              <a:rPr lang="en-IN" dirty="0"/>
              <a:t>Scalable AI solution </a:t>
            </a:r>
          </a:p>
          <a:p>
            <a:r>
              <a:rPr lang="en-IN" dirty="0"/>
              <a:t>Fast response generation </a:t>
            </a:r>
          </a:p>
          <a:p>
            <a:r>
              <a:rPr lang="en-IN" dirty="0"/>
              <a:t>Interactive conversational interface </a:t>
            </a:r>
          </a:p>
          <a:p>
            <a:pPr marL="0" indent="0">
              <a:buNone/>
            </a:pPr>
            <a:endParaRPr lang="en-IN" dirty="0"/>
          </a:p>
        </p:txBody>
      </p:sp>
    </p:spTree>
    <p:extLst>
      <p:ext uri="{BB962C8B-B14F-4D97-AF65-F5344CB8AC3E}">
        <p14:creationId xmlns:p14="http://schemas.microsoft.com/office/powerpoint/2010/main" val="176892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11E5-46AB-FFC2-BD3B-15CAE487128E}"/>
              </a:ext>
            </a:extLst>
          </p:cNvPr>
          <p:cNvSpPr>
            <a:spLocks noGrp="1"/>
          </p:cNvSpPr>
          <p:nvPr>
            <p:ph type="title"/>
          </p:nvPr>
        </p:nvSpPr>
        <p:spPr>
          <a:xfrm>
            <a:off x="3821954" y="742950"/>
            <a:ext cx="3178921" cy="1257300"/>
          </a:xfrm>
        </p:spPr>
        <p:txBody>
          <a:bodyPr/>
          <a:lstStyle/>
          <a:p>
            <a:r>
              <a:rPr lang="en-IN" b="1" dirty="0"/>
              <a:t>Future Scope</a:t>
            </a:r>
            <a:br>
              <a:rPr lang="en-IN" b="1" dirty="0"/>
            </a:br>
            <a:endParaRPr lang="en-IN" dirty="0"/>
          </a:p>
        </p:txBody>
      </p:sp>
      <p:sp>
        <p:nvSpPr>
          <p:cNvPr id="3" name="Content Placeholder 2">
            <a:extLst>
              <a:ext uri="{FF2B5EF4-FFF2-40B4-BE49-F238E27FC236}">
                <a16:creationId xmlns:a16="http://schemas.microsoft.com/office/drawing/2014/main" id="{01D18FE9-93AA-EAEF-E70F-78100CE7C8AD}"/>
              </a:ext>
            </a:extLst>
          </p:cNvPr>
          <p:cNvSpPr>
            <a:spLocks noGrp="1"/>
          </p:cNvSpPr>
          <p:nvPr>
            <p:ph idx="1"/>
          </p:nvPr>
        </p:nvSpPr>
        <p:spPr>
          <a:xfrm>
            <a:off x="1574054" y="2622550"/>
            <a:ext cx="8825659" cy="3416300"/>
          </a:xfrm>
        </p:spPr>
        <p:txBody>
          <a:bodyPr/>
          <a:lstStyle/>
          <a:p>
            <a:r>
              <a:rPr lang="en-IN" dirty="0"/>
              <a:t>Voice-enabled interaction </a:t>
            </a:r>
          </a:p>
          <a:p>
            <a:r>
              <a:rPr lang="en-IN" dirty="0"/>
              <a:t>Mobile application </a:t>
            </a:r>
          </a:p>
          <a:p>
            <a:r>
              <a:rPr lang="en-IN" dirty="0"/>
              <a:t>Integration with wearable devices</a:t>
            </a:r>
          </a:p>
          <a:p>
            <a:r>
              <a:rPr lang="en-IN" dirty="0"/>
              <a:t> Image-based food recognition</a:t>
            </a:r>
          </a:p>
          <a:p>
            <a:r>
              <a:rPr lang="en-IN" dirty="0"/>
              <a:t> AI calorie tracking</a:t>
            </a:r>
          </a:p>
          <a:p>
            <a:r>
              <a:rPr lang="en-IN" dirty="0"/>
              <a:t> Multilingual support </a:t>
            </a:r>
          </a:p>
          <a:p>
            <a:r>
              <a:rPr lang="en-IN" dirty="0"/>
              <a:t>Nutrition progress dashboard</a:t>
            </a:r>
          </a:p>
        </p:txBody>
      </p:sp>
    </p:spTree>
    <p:extLst>
      <p:ext uri="{BB962C8B-B14F-4D97-AF65-F5344CB8AC3E}">
        <p14:creationId xmlns:p14="http://schemas.microsoft.com/office/powerpoint/2010/main" val="398715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B68C-CAC6-FBBC-35B4-593A673BB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6CCDD6-9DCD-39FF-5BE6-1C4EF7AE4CB8}"/>
              </a:ext>
            </a:extLst>
          </p:cNvPr>
          <p:cNvSpPr>
            <a:spLocks noGrp="1"/>
          </p:cNvSpPr>
          <p:nvPr>
            <p:ph type="title"/>
          </p:nvPr>
        </p:nvSpPr>
        <p:spPr>
          <a:xfrm>
            <a:off x="3355230" y="906993"/>
            <a:ext cx="4312396" cy="706964"/>
          </a:xfrm>
        </p:spPr>
        <p:txBody>
          <a:bodyPr/>
          <a:lstStyle/>
          <a:p>
            <a:r>
              <a:rPr lang="en-IN" dirty="0"/>
              <a:t>GitHub Repository</a:t>
            </a:r>
          </a:p>
        </p:txBody>
      </p:sp>
      <p:sp>
        <p:nvSpPr>
          <p:cNvPr id="6" name="TextBox 5">
            <a:extLst>
              <a:ext uri="{FF2B5EF4-FFF2-40B4-BE49-F238E27FC236}">
                <a16:creationId xmlns:a16="http://schemas.microsoft.com/office/drawing/2014/main" id="{695AFFB5-A580-6078-C8D5-C582B7F9B8EB}"/>
              </a:ext>
            </a:extLst>
          </p:cNvPr>
          <p:cNvSpPr txBox="1"/>
          <p:nvPr/>
        </p:nvSpPr>
        <p:spPr>
          <a:xfrm>
            <a:off x="1657350" y="2981325"/>
            <a:ext cx="6208751" cy="369332"/>
          </a:xfrm>
          <a:prstGeom prst="rect">
            <a:avLst/>
          </a:prstGeom>
          <a:noFill/>
        </p:spPr>
        <p:txBody>
          <a:bodyPr wrap="none" rtlCol="0">
            <a:spAutoFit/>
          </a:bodyPr>
          <a:lstStyle/>
          <a:p>
            <a:r>
              <a:rPr lang="en-IN" dirty="0"/>
              <a:t>https://github.com/Hema1806/IBM-Nutrition-Agent.git</a:t>
            </a:r>
          </a:p>
        </p:txBody>
      </p:sp>
      <p:sp>
        <p:nvSpPr>
          <p:cNvPr id="7" name="TextBox 6">
            <a:extLst>
              <a:ext uri="{FF2B5EF4-FFF2-40B4-BE49-F238E27FC236}">
                <a16:creationId xmlns:a16="http://schemas.microsoft.com/office/drawing/2014/main" id="{692D60DD-B5B2-45B3-DE79-23DB63EF97C2}"/>
              </a:ext>
            </a:extLst>
          </p:cNvPr>
          <p:cNvSpPr txBox="1"/>
          <p:nvPr/>
        </p:nvSpPr>
        <p:spPr>
          <a:xfrm>
            <a:off x="1552575" y="3924301"/>
            <a:ext cx="3724391" cy="1015663"/>
          </a:xfrm>
          <a:prstGeom prst="rect">
            <a:avLst/>
          </a:prstGeom>
          <a:noFill/>
        </p:spPr>
        <p:txBody>
          <a:bodyPr wrap="square" rtlCol="0">
            <a:spAutoFit/>
          </a:bodyPr>
          <a:lstStyle/>
          <a:p>
            <a:r>
              <a:rPr lang="en-IN" sz="2400" dirty="0"/>
              <a:t>Repository Name:</a:t>
            </a:r>
          </a:p>
          <a:p>
            <a:r>
              <a:rPr lang="en-IN" dirty="0"/>
              <a:t>IBM-Nutrition-Agent</a:t>
            </a:r>
          </a:p>
          <a:p>
            <a:endParaRPr lang="en-IN" dirty="0"/>
          </a:p>
        </p:txBody>
      </p:sp>
    </p:spTree>
    <p:extLst>
      <p:ext uri="{BB962C8B-B14F-4D97-AF65-F5344CB8AC3E}">
        <p14:creationId xmlns:p14="http://schemas.microsoft.com/office/powerpoint/2010/main" val="761044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1FEFEF-8B43-023B-AE4E-773914ECFB40}"/>
              </a:ext>
            </a:extLst>
          </p:cNvPr>
          <p:cNvPicPr>
            <a:picLocks noChangeAspect="1"/>
          </p:cNvPicPr>
          <p:nvPr/>
        </p:nvPicPr>
        <p:blipFill>
          <a:blip r:embed="rId2"/>
          <a:stretch>
            <a:fillRect/>
          </a:stretch>
        </p:blipFill>
        <p:spPr>
          <a:xfrm>
            <a:off x="2752613" y="873038"/>
            <a:ext cx="6174720" cy="4727661"/>
          </a:xfrm>
          <a:prstGeom prst="rect">
            <a:avLst/>
          </a:prstGeom>
        </p:spPr>
      </p:pic>
    </p:spTree>
    <p:extLst>
      <p:ext uri="{BB962C8B-B14F-4D97-AF65-F5344CB8AC3E}">
        <p14:creationId xmlns:p14="http://schemas.microsoft.com/office/powerpoint/2010/main" val="2070963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A8A6D-5545-A6F7-240E-17D8C2668EFD}"/>
              </a:ext>
            </a:extLst>
          </p:cNvPr>
          <p:cNvPicPr>
            <a:picLocks noChangeAspect="1"/>
          </p:cNvPicPr>
          <p:nvPr/>
        </p:nvPicPr>
        <p:blipFill>
          <a:blip r:embed="rId2"/>
          <a:stretch>
            <a:fillRect/>
          </a:stretch>
        </p:blipFill>
        <p:spPr>
          <a:xfrm>
            <a:off x="2885910" y="939672"/>
            <a:ext cx="6420180" cy="4978656"/>
          </a:xfrm>
          <a:prstGeom prst="rect">
            <a:avLst/>
          </a:prstGeom>
        </p:spPr>
      </p:pic>
    </p:spTree>
    <p:extLst>
      <p:ext uri="{BB962C8B-B14F-4D97-AF65-F5344CB8AC3E}">
        <p14:creationId xmlns:p14="http://schemas.microsoft.com/office/powerpoint/2010/main" val="2822344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DBC646-20AE-B1A9-26DC-4F87CE667F02}"/>
              </a:ext>
            </a:extLst>
          </p:cNvPr>
          <p:cNvPicPr>
            <a:picLocks noChangeAspect="1"/>
          </p:cNvPicPr>
          <p:nvPr/>
        </p:nvPicPr>
        <p:blipFill>
          <a:blip r:embed="rId2"/>
          <a:stretch>
            <a:fillRect/>
          </a:stretch>
        </p:blipFill>
        <p:spPr>
          <a:xfrm>
            <a:off x="2543175" y="1000780"/>
            <a:ext cx="6508887" cy="5066752"/>
          </a:xfrm>
          <a:prstGeom prst="rect">
            <a:avLst/>
          </a:prstGeom>
        </p:spPr>
      </p:pic>
    </p:spTree>
    <p:extLst>
      <p:ext uri="{BB962C8B-B14F-4D97-AF65-F5344CB8AC3E}">
        <p14:creationId xmlns:p14="http://schemas.microsoft.com/office/powerpoint/2010/main" val="21830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EC520F-A226-53F9-06A0-956F2C890435}"/>
              </a:ext>
            </a:extLst>
          </p:cNvPr>
          <p:cNvPicPr>
            <a:picLocks noChangeAspect="1"/>
          </p:cNvPicPr>
          <p:nvPr/>
        </p:nvPicPr>
        <p:blipFill>
          <a:blip r:embed="rId2"/>
          <a:stretch>
            <a:fillRect/>
          </a:stretch>
        </p:blipFill>
        <p:spPr>
          <a:xfrm>
            <a:off x="2524125" y="1122698"/>
            <a:ext cx="7356635" cy="5176615"/>
          </a:xfrm>
          <a:prstGeom prst="rect">
            <a:avLst/>
          </a:prstGeom>
        </p:spPr>
      </p:pic>
    </p:spTree>
    <p:extLst>
      <p:ext uri="{BB962C8B-B14F-4D97-AF65-F5344CB8AC3E}">
        <p14:creationId xmlns:p14="http://schemas.microsoft.com/office/powerpoint/2010/main" val="71031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8FE0-630E-8F8B-72ED-D7D09CA97BB6}"/>
              </a:ext>
            </a:extLst>
          </p:cNvPr>
          <p:cNvSpPr>
            <a:spLocks noGrp="1"/>
          </p:cNvSpPr>
          <p:nvPr>
            <p:ph type="title"/>
          </p:nvPr>
        </p:nvSpPr>
        <p:spPr>
          <a:xfrm>
            <a:off x="4097385" y="838200"/>
            <a:ext cx="2940796" cy="706964"/>
          </a:xfrm>
        </p:spPr>
        <p:txBody>
          <a:bodyPr/>
          <a:lstStyle/>
          <a:p>
            <a:r>
              <a:rPr lang="en-IN" dirty="0"/>
              <a:t>Conclusion</a:t>
            </a:r>
          </a:p>
        </p:txBody>
      </p:sp>
      <p:sp>
        <p:nvSpPr>
          <p:cNvPr id="3" name="Content Placeholder 2">
            <a:extLst>
              <a:ext uri="{FF2B5EF4-FFF2-40B4-BE49-F238E27FC236}">
                <a16:creationId xmlns:a16="http://schemas.microsoft.com/office/drawing/2014/main" id="{15B13317-87F7-83D7-04B2-1CFD852F7CBC}"/>
              </a:ext>
            </a:extLst>
          </p:cNvPr>
          <p:cNvSpPr>
            <a:spLocks noGrp="1"/>
          </p:cNvSpPr>
          <p:nvPr>
            <p:ph idx="1"/>
          </p:nvPr>
        </p:nvSpPr>
        <p:spPr>
          <a:xfrm>
            <a:off x="1755029" y="2832100"/>
            <a:ext cx="8825659" cy="3416300"/>
          </a:xfrm>
        </p:spPr>
        <p:txBody>
          <a:bodyPr/>
          <a:lstStyle/>
          <a:p>
            <a:r>
              <a:rPr lang="en-IN" dirty="0"/>
              <a:t>The AI-Powered Personalized Nutrition Agent demonstrates how IBM </a:t>
            </a:r>
            <a:r>
              <a:rPr lang="en-IN" dirty="0" err="1"/>
              <a:t>watsonx</a:t>
            </a:r>
            <a:r>
              <a:rPr lang="en-IN" dirty="0"/>
              <a:t> Orchestrate can be used to develop intelligent healthcare assistants. By combining conversational AI with a curated nutrition knowledge base, the system provides personalized diet recommendations and promotes healthier lifestyle choices. The project highlights the practical application of AI in healthcare and showcases the capabilities of IBM </a:t>
            </a:r>
            <a:r>
              <a:rPr lang="en-IN" dirty="0" err="1"/>
              <a:t>watsonx</a:t>
            </a:r>
            <a:r>
              <a:rPr lang="en-IN" dirty="0"/>
              <a:t> Orchestrate for building domain-specific AI agents.</a:t>
            </a:r>
          </a:p>
        </p:txBody>
      </p:sp>
    </p:spTree>
    <p:extLst>
      <p:ext uri="{BB962C8B-B14F-4D97-AF65-F5344CB8AC3E}">
        <p14:creationId xmlns:p14="http://schemas.microsoft.com/office/powerpoint/2010/main" val="66390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862134-F327-C579-BF9C-9F5134DC5044}"/>
              </a:ext>
            </a:extLst>
          </p:cNvPr>
          <p:cNvSpPr txBox="1"/>
          <p:nvPr/>
        </p:nvSpPr>
        <p:spPr>
          <a:xfrm>
            <a:off x="4086225" y="2200275"/>
            <a:ext cx="4019550" cy="1415772"/>
          </a:xfrm>
          <a:prstGeom prst="rect">
            <a:avLst/>
          </a:prstGeom>
          <a:noFill/>
        </p:spPr>
        <p:txBody>
          <a:bodyPr wrap="square" rtlCol="0">
            <a:spAutoFit/>
          </a:bodyPr>
          <a:lstStyle/>
          <a:p>
            <a:r>
              <a:rPr lang="en-IN" sz="5000" b="1" dirty="0"/>
              <a:t>Thank You</a:t>
            </a:r>
            <a:endParaRPr lang="en-IN" sz="5000" dirty="0"/>
          </a:p>
          <a:p>
            <a:r>
              <a:rPr lang="en-IN" b="1" dirty="0"/>
              <a:t>Questions &amp; Answers</a:t>
            </a:r>
            <a:endParaRPr lang="en-IN" dirty="0"/>
          </a:p>
          <a:p>
            <a:endParaRPr lang="en-IN" dirty="0"/>
          </a:p>
        </p:txBody>
      </p:sp>
    </p:spTree>
    <p:extLst>
      <p:ext uri="{BB962C8B-B14F-4D97-AF65-F5344CB8AC3E}">
        <p14:creationId xmlns:p14="http://schemas.microsoft.com/office/powerpoint/2010/main" val="330346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{3D485F7A-863F-4837-B6D7-350D591769C6}TF229edf6a-8a49-49ee-a0a6-5037052947485fb3ca0c-bc27bf41d645</Template>
  <TotalTime>99</TotalTime>
  <Words>545</Words>
  <Application>Microsoft Office PowerPoint</Application>
  <PresentationFormat>Widescreen</PresentationFormat>
  <Paragraphs>87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 Gothic</vt:lpstr>
      <vt:lpstr>Wingdings 3</vt:lpstr>
      <vt:lpstr>Ion Boardroom</vt:lpstr>
      <vt:lpstr>AI-Powered Personalized Nutrition Agent      using IBM watsonx Orchestrate  IBM SkillsBuild – University Engagement Program </vt:lpstr>
      <vt:lpstr>Introduction</vt:lpstr>
      <vt:lpstr>Problem Statement</vt:lpstr>
      <vt:lpstr>Objectives</vt:lpstr>
      <vt:lpstr>Proposed Solution</vt:lpstr>
      <vt:lpstr>Technologies Used</vt:lpstr>
      <vt:lpstr>System Architecture</vt:lpstr>
      <vt:lpstr>Workflow</vt:lpstr>
      <vt:lpstr>Knowledge Base</vt:lpstr>
      <vt:lpstr>Agent Configuration</vt:lpstr>
      <vt:lpstr>Testing</vt:lpstr>
      <vt:lpstr>Results</vt:lpstr>
      <vt:lpstr>Advantages</vt:lpstr>
      <vt:lpstr>Future Scope </vt:lpstr>
      <vt:lpstr>GitHub Repository</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 sri</dc:creator>
  <cp:lastModifiedBy>hema sri</cp:lastModifiedBy>
  <cp:revision>1</cp:revision>
  <dcterms:created xsi:type="dcterms:W3CDTF">2026-07-13T15:41:09Z</dcterms:created>
  <dcterms:modified xsi:type="dcterms:W3CDTF">2026-07-13T17:20:57Z</dcterms:modified>
</cp:coreProperties>
</file>